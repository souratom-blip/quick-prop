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70" r:id="rId6"/>
    <p:sldId id="271" r:id="rId7"/>
  </p:sldIdLst>
  <p:sldSz cx="7543800" cy="10693400"/>
  <p:notesSz cx="75438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5785" y="3314954"/>
            <a:ext cx="641223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1570" y="5988304"/>
            <a:ext cx="528066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190" y="2459482"/>
            <a:ext cx="3281553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85057" y="2459482"/>
            <a:ext cx="3281553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43799" cy="106893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6349" y="951096"/>
            <a:ext cx="5249545" cy="774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504" y="1912901"/>
            <a:ext cx="6668770" cy="663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4892" y="9944862"/>
            <a:ext cx="24140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190" y="9944862"/>
            <a:ext cx="173507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1536" y="9944862"/>
            <a:ext cx="173507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43799" cy="10689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349" y="3086916"/>
            <a:ext cx="154940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600"/>
              </a:spcBef>
            </a:pPr>
            <a:r>
              <a:rPr sz="2600" b="1" spc="-380" dirty="0">
                <a:latin typeface="Arial"/>
                <a:cs typeface="Arial"/>
              </a:rPr>
              <a:t>1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Recitals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9044" y="1838591"/>
            <a:ext cx="5219065" cy="1747520"/>
            <a:chOff x="429044" y="1838591"/>
            <a:chExt cx="5219065" cy="1747520"/>
          </a:xfrm>
        </p:grpSpPr>
        <p:sp>
          <p:nvSpPr>
            <p:cNvPr id="4" name="object 4"/>
            <p:cNvSpPr/>
            <p:nvPr/>
          </p:nvSpPr>
          <p:spPr>
            <a:xfrm>
              <a:off x="429044" y="3557257"/>
              <a:ext cx="825500" cy="29209"/>
            </a:xfrm>
            <a:custGeom>
              <a:avLst/>
              <a:gdLst/>
              <a:ahLst/>
              <a:cxnLst/>
              <a:rect l="l" t="t" r="r" b="b"/>
              <a:pathLst>
                <a:path w="825500" h="29210">
                  <a:moveTo>
                    <a:pt x="825080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825080" y="28765"/>
                  </a:lnTo>
                  <a:lnTo>
                    <a:pt x="825080" y="0"/>
                  </a:lnTo>
                  <a:close/>
                </a:path>
              </a:pathLst>
            </a:custGeom>
            <a:solidFill>
              <a:srgbClr val="17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" y="3557257"/>
              <a:ext cx="805815" cy="29209"/>
            </a:xfrm>
            <a:custGeom>
              <a:avLst/>
              <a:gdLst/>
              <a:ahLst/>
              <a:cxnLst/>
              <a:rect l="l" t="t" r="r" b="b"/>
              <a:pathLst>
                <a:path w="805814" h="29210">
                  <a:moveTo>
                    <a:pt x="805573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805573" y="28765"/>
                  </a:lnTo>
                  <a:lnTo>
                    <a:pt x="805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044" y="1838591"/>
              <a:ext cx="1882139" cy="29209"/>
            </a:xfrm>
            <a:custGeom>
              <a:avLst/>
              <a:gdLst/>
              <a:ahLst/>
              <a:cxnLst/>
              <a:rect l="l" t="t" r="r" b="b"/>
              <a:pathLst>
                <a:path w="1882139" h="29210">
                  <a:moveTo>
                    <a:pt x="1881530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1881530" y="28765"/>
                  </a:lnTo>
                  <a:lnTo>
                    <a:pt x="1881530" y="0"/>
                  </a:lnTo>
                  <a:close/>
                </a:path>
              </a:pathLst>
            </a:custGeom>
            <a:solidFill>
              <a:srgbClr val="17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31898" y="1838591"/>
              <a:ext cx="3416300" cy="29209"/>
            </a:xfrm>
            <a:custGeom>
              <a:avLst/>
              <a:gdLst/>
              <a:ahLst/>
              <a:cxnLst/>
              <a:rect l="l" t="t" r="r" b="b"/>
              <a:pathLst>
                <a:path w="3416300" h="29210">
                  <a:moveTo>
                    <a:pt x="3415868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3415868" y="28765"/>
                  </a:lnTo>
                  <a:lnTo>
                    <a:pt x="3415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600"/>
              </a:spcBef>
            </a:pPr>
            <a:r>
              <a:rPr lang="en-US" sz="2600" dirty="0"/>
              <a:t>Mobile</a:t>
            </a:r>
            <a:r>
              <a:rPr lang="en-US" sz="2600" spc="150" dirty="0"/>
              <a:t> </a:t>
            </a:r>
            <a:r>
              <a:rPr lang="en-US" sz="2600" dirty="0"/>
              <a:t>Application</a:t>
            </a:r>
            <a:r>
              <a:rPr lang="en-US" sz="2600" spc="155" dirty="0"/>
              <a:t> </a:t>
            </a:r>
            <a:r>
              <a:rPr lang="en-US" sz="2600" spc="-10" dirty="0"/>
              <a:t>Development </a:t>
            </a:r>
            <a:r>
              <a:rPr lang="en-US" sz="2600" spc="35" dirty="0"/>
              <a:t>Agreement</a:t>
            </a:r>
            <a:endParaRPr sz="2600" dirty="0"/>
          </a:p>
        </p:txBody>
      </p:sp>
      <p:sp>
        <p:nvSpPr>
          <p:cNvPr id="9" name="object 9"/>
          <p:cNvSpPr txBox="1"/>
          <p:nvPr/>
        </p:nvSpPr>
        <p:spPr>
          <a:xfrm>
            <a:off x="416355" y="2009872"/>
            <a:ext cx="6336665" cy="991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sz="1250" spc="10" dirty="0">
                <a:latin typeface="Arial MT"/>
                <a:cs typeface="Arial MT"/>
              </a:rPr>
              <a:t>This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Mobile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Application</a:t>
            </a:r>
            <a:r>
              <a:rPr sz="1250" spc="8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Development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Intellectual</a:t>
            </a:r>
            <a:r>
              <a:rPr sz="1250" spc="8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Property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Assignment</a:t>
            </a:r>
            <a:r>
              <a:rPr sz="1250" spc="7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Agreement </a:t>
            </a:r>
            <a:r>
              <a:rPr sz="1250" spc="10" dirty="0">
                <a:latin typeface="Arial MT"/>
                <a:cs typeface="Arial MT"/>
              </a:rPr>
              <a:t>("Agreement")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is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made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entered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into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as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of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12/16/2025,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by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-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between</a:t>
            </a:r>
            <a:endParaRPr sz="1250" dirty="0">
              <a:latin typeface="Arial MT"/>
              <a:cs typeface="Arial MT"/>
            </a:endParaRPr>
          </a:p>
          <a:p>
            <a:pPr marL="12700" marR="100965">
              <a:lnSpc>
                <a:spcPct val="115000"/>
              </a:lnSpc>
              <a:spcBef>
                <a:spcPts val="400"/>
              </a:spcBef>
            </a:pPr>
            <a:r>
              <a:rPr sz="1250" b="1" spc="10" dirty="0">
                <a:latin typeface="Arial"/>
                <a:cs typeface="Arial"/>
              </a:rPr>
              <a:t>Progressive</a:t>
            </a:r>
            <a:r>
              <a:rPr sz="1250" b="1" spc="15" dirty="0">
                <a:latin typeface="Arial"/>
                <a:cs typeface="Arial"/>
              </a:rPr>
              <a:t> </a:t>
            </a:r>
            <a:r>
              <a:rPr sz="1250" b="1" spc="10" dirty="0">
                <a:latin typeface="Arial"/>
                <a:cs typeface="Arial"/>
              </a:rPr>
              <a:t>UX</a:t>
            </a:r>
            <a:r>
              <a:rPr sz="1250" b="1" spc="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Inc.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spc="10" dirty="0">
                <a:latin typeface="Arial MT"/>
                <a:cs typeface="Arial MT"/>
              </a:rPr>
              <a:t>("Developer")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b="1" spc="10" dirty="0" err="1">
                <a:latin typeface="Arial"/>
                <a:cs typeface="Arial"/>
              </a:rPr>
              <a:t>Al</a:t>
            </a:r>
            <a:r>
              <a:rPr lang="en-US" sz="1250" b="1" spc="10" dirty="0" err="1">
                <a:latin typeface="Arial"/>
                <a:cs typeface="Arial"/>
              </a:rPr>
              <a:t>a</a:t>
            </a:r>
            <a:r>
              <a:rPr sz="1250" b="1" spc="10" dirty="0" err="1">
                <a:latin typeface="Arial"/>
                <a:cs typeface="Arial"/>
              </a:rPr>
              <a:t>nPro</a:t>
            </a:r>
            <a:r>
              <a:rPr sz="1250" b="1" spc="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Technologies</a:t>
            </a:r>
            <a:r>
              <a:rPr sz="1250" b="1" spc="20" dirty="0">
                <a:latin typeface="Arial"/>
                <a:cs typeface="Arial"/>
              </a:rPr>
              <a:t> </a:t>
            </a:r>
            <a:r>
              <a:rPr sz="1250" spc="10" dirty="0">
                <a:latin typeface="Arial MT"/>
                <a:cs typeface="Arial MT"/>
              </a:rPr>
              <a:t>("Client").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Intending</a:t>
            </a:r>
            <a:r>
              <a:rPr sz="1250" spc="-25" dirty="0">
                <a:latin typeface="Arial MT"/>
                <a:cs typeface="Arial MT"/>
              </a:rPr>
              <a:t> to </a:t>
            </a:r>
            <a:r>
              <a:rPr sz="1250" dirty="0">
                <a:latin typeface="Arial MT"/>
                <a:cs typeface="Arial MT"/>
              </a:rPr>
              <a:t>be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legally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bound,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Client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and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Developer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agree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as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follows: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966" y="3568720"/>
            <a:ext cx="6303010" cy="195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1775">
              <a:lnSpc>
                <a:spcPct val="115000"/>
              </a:lnSpc>
              <a:spcBef>
                <a:spcPts val="400"/>
              </a:spcBef>
            </a:pPr>
            <a:r>
              <a:rPr sz="1250" spc="-35" dirty="0">
                <a:latin typeface="Arial MT"/>
                <a:cs typeface="Arial MT"/>
              </a:rPr>
              <a:t>WHEREAS,</a:t>
            </a:r>
            <a:r>
              <a:rPr sz="1250" spc="9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Developer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is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</a:t>
            </a:r>
            <a:r>
              <a:rPr sz="1250" spc="9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the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business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of</a:t>
            </a:r>
            <a:r>
              <a:rPr sz="1250" spc="9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providing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certain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technological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services, </a:t>
            </a:r>
            <a:r>
              <a:rPr sz="1250" spc="10" dirty="0">
                <a:latin typeface="Arial MT"/>
                <a:cs typeface="Arial MT"/>
              </a:rPr>
              <a:t>including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but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not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limited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to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application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development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technical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solutions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for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his </a:t>
            </a:r>
            <a:r>
              <a:rPr sz="1250" dirty="0">
                <a:latin typeface="Arial MT"/>
                <a:cs typeface="Arial MT"/>
              </a:rPr>
              <a:t>clients;</a:t>
            </a:r>
            <a:r>
              <a:rPr sz="1250" spc="40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and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spc="-35" dirty="0">
                <a:latin typeface="Arial MT"/>
                <a:cs typeface="Arial MT"/>
              </a:rPr>
              <a:t>WHEREAS,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Client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desires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to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enter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into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this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Agreement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spc="50" dirty="0">
                <a:latin typeface="Arial MT"/>
                <a:cs typeface="Arial MT"/>
              </a:rPr>
              <a:t>with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Developer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for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certain</a:t>
            </a:r>
            <a:endParaRPr sz="1250">
              <a:latin typeface="Arial MT"/>
              <a:cs typeface="Arial MT"/>
            </a:endParaRPr>
          </a:p>
          <a:p>
            <a:pPr marL="12700" marR="109220">
              <a:lnSpc>
                <a:spcPct val="115000"/>
              </a:lnSpc>
              <a:spcBef>
                <a:spcPts val="400"/>
              </a:spcBef>
            </a:pPr>
            <a:r>
              <a:rPr sz="1250" spc="10" dirty="0">
                <a:latin typeface="Arial MT"/>
                <a:cs typeface="Arial MT"/>
              </a:rPr>
              <a:t>services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the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development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of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certain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applications,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as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described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45" dirty="0">
                <a:latin typeface="Arial MT"/>
                <a:cs typeface="Arial MT"/>
              </a:rPr>
              <a:t>further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under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this </a:t>
            </a:r>
            <a:r>
              <a:rPr sz="1250" spc="-10" dirty="0">
                <a:latin typeface="Arial MT"/>
                <a:cs typeface="Arial MT"/>
              </a:rPr>
              <a:t>Agreement.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spc="-50" dirty="0">
                <a:latin typeface="Arial MT"/>
                <a:cs typeface="Arial MT"/>
              </a:rPr>
              <a:t>NOW,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THEREFORE,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consideration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of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the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mutual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promises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and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covenants,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the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receipt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spc="10" dirty="0">
                <a:latin typeface="Arial MT"/>
                <a:cs typeface="Arial MT"/>
              </a:rPr>
              <a:t>and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sufficiency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of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which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are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hereby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acknowledged,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the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parties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agree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as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follows: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355" y="6108177"/>
            <a:ext cx="6440170" cy="9912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dirty="0">
                <a:latin typeface="Arial MT"/>
                <a:cs typeface="Arial MT"/>
              </a:rPr>
              <a:t>Developer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shall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spc="45" dirty="0">
                <a:latin typeface="Arial MT"/>
                <a:cs typeface="Arial MT"/>
              </a:rPr>
              <a:t>perform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for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Client,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as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b="1" dirty="0">
                <a:latin typeface="Arial"/>
                <a:cs typeface="Arial"/>
              </a:rPr>
              <a:t>work</a:t>
            </a:r>
            <a:r>
              <a:rPr sz="1250" b="1" spc="8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made</a:t>
            </a:r>
            <a:r>
              <a:rPr sz="1250" b="1" spc="7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for</a:t>
            </a:r>
            <a:r>
              <a:rPr sz="1250" b="1" spc="7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hire,</a:t>
            </a:r>
            <a:r>
              <a:rPr sz="1250" b="1" spc="30" dirty="0">
                <a:latin typeface="Arial"/>
                <a:cs typeface="Arial"/>
              </a:rPr>
              <a:t> </a:t>
            </a:r>
            <a:r>
              <a:rPr sz="1250" dirty="0">
                <a:latin typeface="Arial MT"/>
                <a:cs typeface="Arial MT"/>
              </a:rPr>
              <a:t>the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development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of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a</a:t>
            </a:r>
            <a:endParaRPr sz="1250" dirty="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dirty="0">
                <a:latin typeface="Arial MT"/>
                <a:cs typeface="Arial MT"/>
              </a:rPr>
              <a:t>custom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b="1" dirty="0">
                <a:latin typeface="Arial"/>
                <a:cs typeface="Arial"/>
              </a:rPr>
              <a:t>Mobile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Application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(iOS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ANDROID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only)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Website,</a:t>
            </a:r>
            <a:r>
              <a:rPr sz="1250" b="1" spc="15" dirty="0">
                <a:latin typeface="Arial"/>
                <a:cs typeface="Arial"/>
              </a:rPr>
              <a:t> </a:t>
            </a:r>
            <a:r>
              <a:rPr sz="1250" dirty="0">
                <a:latin typeface="Arial MT"/>
                <a:cs typeface="Arial MT"/>
              </a:rPr>
              <a:t>where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users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will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be</a:t>
            </a:r>
            <a:endParaRPr sz="1250" dirty="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dirty="0">
                <a:latin typeface="Arial MT"/>
                <a:cs typeface="Arial MT"/>
              </a:rPr>
              <a:t>able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to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sign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up,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create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profiles,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utilize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an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in-app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messaging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system,</a:t>
            </a:r>
            <a:r>
              <a:rPr sz="1250" spc="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and</a:t>
            </a:r>
            <a:r>
              <a:rPr sz="1250" spc="3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access</a:t>
            </a:r>
            <a:endParaRPr sz="1250" dirty="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250" dirty="0">
                <a:latin typeface="Arial MT"/>
                <a:cs typeface="Arial MT"/>
              </a:rPr>
              <a:t>additional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advanced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features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mentioned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the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b="1" dirty="0">
                <a:latin typeface="Arial"/>
                <a:cs typeface="Arial"/>
              </a:rPr>
              <a:t>Scope</a:t>
            </a:r>
            <a:r>
              <a:rPr sz="1250" b="1" spc="1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of</a:t>
            </a:r>
            <a:r>
              <a:rPr sz="1250" b="1" spc="12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Work</a:t>
            </a:r>
            <a:r>
              <a:rPr sz="1250" b="1" spc="1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(SOW)</a:t>
            </a:r>
            <a:r>
              <a:rPr sz="1250" b="1" spc="65" dirty="0">
                <a:latin typeface="Arial"/>
                <a:cs typeface="Arial"/>
              </a:rPr>
              <a:t> </a:t>
            </a:r>
            <a:r>
              <a:rPr sz="1250" spc="-10" dirty="0">
                <a:latin typeface="Arial MT"/>
                <a:cs typeface="Arial MT"/>
              </a:rPr>
              <a:t>below: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6349" y="5615375"/>
            <a:ext cx="293624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600"/>
              </a:spcBef>
            </a:pPr>
            <a:r>
              <a:rPr sz="2600" b="1" spc="55" dirty="0">
                <a:latin typeface="Arial"/>
                <a:cs typeface="Arial"/>
              </a:rPr>
              <a:t>2.</a:t>
            </a:r>
            <a:r>
              <a:rPr sz="2600" b="1" spc="4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Scope</a:t>
            </a:r>
            <a:r>
              <a:rPr sz="2600" b="1" spc="45" dirty="0">
                <a:latin typeface="Arial"/>
                <a:cs typeface="Arial"/>
              </a:rPr>
              <a:t> </a:t>
            </a:r>
            <a:r>
              <a:rPr sz="2600" b="1" spc="65" dirty="0">
                <a:latin typeface="Arial"/>
                <a:cs typeface="Arial"/>
              </a:rPr>
              <a:t>Of</a:t>
            </a:r>
            <a:r>
              <a:rPr sz="2600" b="1" spc="45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Work:</a:t>
            </a:r>
            <a:endParaRPr sz="26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044" y="6085713"/>
            <a:ext cx="2942590" cy="29209"/>
            <a:chOff x="429044" y="6085713"/>
            <a:chExt cx="2942590" cy="29209"/>
          </a:xfrm>
        </p:grpSpPr>
        <p:sp>
          <p:nvSpPr>
            <p:cNvPr id="14" name="object 14"/>
            <p:cNvSpPr/>
            <p:nvPr/>
          </p:nvSpPr>
          <p:spPr>
            <a:xfrm>
              <a:off x="429044" y="6085725"/>
              <a:ext cx="1487170" cy="29209"/>
            </a:xfrm>
            <a:custGeom>
              <a:avLst/>
              <a:gdLst/>
              <a:ahLst/>
              <a:cxnLst/>
              <a:rect l="l" t="t" r="r" b="b"/>
              <a:pathLst>
                <a:path w="1487170" h="29210">
                  <a:moveTo>
                    <a:pt x="1486763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1486763" y="28765"/>
                  </a:lnTo>
                  <a:lnTo>
                    <a:pt x="1486763" y="0"/>
                  </a:lnTo>
                  <a:close/>
                </a:path>
              </a:pathLst>
            </a:custGeom>
            <a:solidFill>
              <a:srgbClr val="17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37131" y="6085713"/>
              <a:ext cx="1534795" cy="29209"/>
            </a:xfrm>
            <a:custGeom>
              <a:avLst/>
              <a:gdLst/>
              <a:ahLst/>
              <a:cxnLst/>
              <a:rect l="l" t="t" r="r" b="b"/>
              <a:pathLst>
                <a:path w="1534795" h="29210">
                  <a:moveTo>
                    <a:pt x="1534375" y="0"/>
                  </a:moveTo>
                  <a:lnTo>
                    <a:pt x="0" y="0"/>
                  </a:lnTo>
                  <a:lnTo>
                    <a:pt x="0" y="28765"/>
                  </a:lnTo>
                  <a:lnTo>
                    <a:pt x="1534375" y="28765"/>
                  </a:lnTo>
                  <a:lnTo>
                    <a:pt x="15343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FA15F5-B258-AF73-413C-7C99D8193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1"/>
            <a:ext cx="7543800" cy="10689337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5A752618-3F09-4D6B-F9AF-FBD924738921}"/>
              </a:ext>
            </a:extLst>
          </p:cNvPr>
          <p:cNvSpPr txBox="1"/>
          <p:nvPr/>
        </p:nvSpPr>
        <p:spPr>
          <a:xfrm>
            <a:off x="416355" y="1003300"/>
            <a:ext cx="6336665" cy="231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lang="en-US" sz="1250" spc="10" dirty="0">
                <a:solidFill>
                  <a:srgbClr val="303030"/>
                </a:solidFill>
                <a:latin typeface="Arial MT"/>
                <a:cs typeface="Arial MT"/>
              </a:rPr>
              <a:t>Edit Here……..</a:t>
            </a:r>
            <a:endParaRPr sz="12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43800" cy="10689590"/>
            <a:chOff x="0" y="0"/>
            <a:chExt cx="7543800" cy="10689590"/>
          </a:xfrm>
        </p:grpSpPr>
        <p:sp>
          <p:nvSpPr>
            <p:cNvPr id="3" name="object 3"/>
            <p:cNvSpPr/>
            <p:nvPr/>
          </p:nvSpPr>
          <p:spPr>
            <a:xfrm>
              <a:off x="431203" y="3556063"/>
              <a:ext cx="1503680" cy="29845"/>
            </a:xfrm>
            <a:custGeom>
              <a:avLst/>
              <a:gdLst/>
              <a:ahLst/>
              <a:cxnLst/>
              <a:rect l="l" t="t" r="r" b="b"/>
              <a:pathLst>
                <a:path w="1503680" h="29845">
                  <a:moveTo>
                    <a:pt x="1503286" y="0"/>
                  </a:moveTo>
                  <a:lnTo>
                    <a:pt x="0" y="0"/>
                  </a:lnTo>
                  <a:lnTo>
                    <a:pt x="0" y="29819"/>
                  </a:lnTo>
                  <a:lnTo>
                    <a:pt x="1503286" y="29819"/>
                  </a:lnTo>
                  <a:lnTo>
                    <a:pt x="1503286" y="0"/>
                  </a:lnTo>
                  <a:close/>
                </a:path>
              </a:pathLst>
            </a:custGeom>
            <a:solidFill>
              <a:srgbClr val="17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54923" y="3556063"/>
              <a:ext cx="1551940" cy="29845"/>
            </a:xfrm>
            <a:custGeom>
              <a:avLst/>
              <a:gdLst/>
              <a:ahLst/>
              <a:cxnLst/>
              <a:rect l="l" t="t" r="r" b="b"/>
              <a:pathLst>
                <a:path w="1551939" h="29845">
                  <a:moveTo>
                    <a:pt x="1551432" y="0"/>
                  </a:moveTo>
                  <a:lnTo>
                    <a:pt x="0" y="0"/>
                  </a:lnTo>
                  <a:lnTo>
                    <a:pt x="0" y="29819"/>
                  </a:lnTo>
                  <a:lnTo>
                    <a:pt x="1551432" y="29819"/>
                  </a:lnTo>
                  <a:lnTo>
                    <a:pt x="1551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8504" y="802423"/>
            <a:ext cx="30060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dirty="0"/>
              <a:t>5.</a:t>
            </a:r>
            <a:r>
              <a:rPr spc="105" dirty="0"/>
              <a:t> </a:t>
            </a:r>
            <a:r>
              <a:rPr dirty="0"/>
              <a:t>Payment</a:t>
            </a:r>
            <a:r>
              <a:rPr spc="105" dirty="0"/>
              <a:t> </a:t>
            </a:r>
            <a:r>
              <a:rPr spc="-10" dirty="0"/>
              <a:t>Terms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8504" y="1390409"/>
            <a:ext cx="6948805" cy="61588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07314" indent="-94615">
              <a:lnSpc>
                <a:spcPct val="115000"/>
              </a:lnSpc>
              <a:spcBef>
                <a:spcPts val="400"/>
              </a:spcBef>
              <a:buChar char="•"/>
              <a:tabLst>
                <a:tab pos="107314" algn="l"/>
              </a:tabLst>
            </a:pPr>
            <a:r>
              <a:rPr sz="1300" dirty="0">
                <a:latin typeface="Arial MT"/>
                <a:cs typeface="Arial MT"/>
              </a:rPr>
              <a:t>25%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Project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Kickoff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–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cover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Wireframing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&amp;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UI/UX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Design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(Screens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designing)</a:t>
            </a:r>
            <a:endParaRPr sz="1300" dirty="0">
              <a:latin typeface="Arial MT"/>
              <a:cs typeface="Arial MT"/>
            </a:endParaRPr>
          </a:p>
          <a:p>
            <a:pPr marL="107314" indent="-94615">
              <a:lnSpc>
                <a:spcPct val="115000"/>
              </a:lnSpc>
              <a:spcBef>
                <a:spcPts val="400"/>
              </a:spcBef>
              <a:buChar char="•"/>
              <a:tabLst>
                <a:tab pos="107314" algn="l"/>
              </a:tabLst>
            </a:pPr>
            <a:r>
              <a:rPr sz="1300" dirty="0">
                <a:latin typeface="Arial MT"/>
                <a:cs typeface="Arial MT"/>
              </a:rPr>
              <a:t>25%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after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Wireframes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&amp;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Screen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designs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are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approved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–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cover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Alpha</a:t>
            </a:r>
            <a:endParaRPr sz="1300" dirty="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300" spc="-10" dirty="0">
                <a:latin typeface="Arial MT"/>
                <a:cs typeface="Arial MT"/>
              </a:rPr>
              <a:t>development</a:t>
            </a:r>
            <a:endParaRPr sz="1300" dirty="0">
              <a:latin typeface="Arial MT"/>
              <a:cs typeface="Arial MT"/>
            </a:endParaRPr>
          </a:p>
          <a:p>
            <a:pPr marL="107314" indent="-94615">
              <a:lnSpc>
                <a:spcPct val="115000"/>
              </a:lnSpc>
              <a:spcBef>
                <a:spcPts val="400"/>
              </a:spcBef>
              <a:buChar char="•"/>
              <a:tabLst>
                <a:tab pos="107314" algn="l"/>
              </a:tabLst>
            </a:pPr>
            <a:r>
              <a:rPr sz="1300" dirty="0">
                <a:latin typeface="Arial MT"/>
                <a:cs typeface="Arial MT"/>
              </a:rPr>
              <a:t>25%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after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Alpha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coding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is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approved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–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cover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Beta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development</a:t>
            </a:r>
            <a:endParaRPr sz="1300" dirty="0">
              <a:latin typeface="Arial MT"/>
              <a:cs typeface="Arial MT"/>
            </a:endParaRPr>
          </a:p>
          <a:p>
            <a:pPr marL="107314" indent="-94615">
              <a:lnSpc>
                <a:spcPct val="115000"/>
              </a:lnSpc>
              <a:spcBef>
                <a:spcPts val="400"/>
              </a:spcBef>
              <a:buChar char="•"/>
              <a:tabLst>
                <a:tab pos="107314" algn="l"/>
              </a:tabLst>
            </a:pPr>
            <a:r>
              <a:rPr sz="1300" dirty="0">
                <a:latin typeface="Arial MT"/>
                <a:cs typeface="Arial MT"/>
              </a:rPr>
              <a:t>25%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upon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approval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Beta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coding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for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Final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Delivery</a:t>
            </a:r>
            <a:endParaRPr sz="1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300" dirty="0">
              <a:latin typeface="Arial MT"/>
              <a:cs typeface="Arial MT"/>
            </a:endParaRPr>
          </a:p>
          <a:p>
            <a:pPr marL="411480" indent="-398780">
              <a:lnSpc>
                <a:spcPct val="115000"/>
              </a:lnSpc>
              <a:spcBef>
                <a:spcPts val="1600"/>
              </a:spcBef>
              <a:buAutoNum type="arabicPeriod" startAt="6"/>
              <a:tabLst>
                <a:tab pos="411480" algn="l"/>
              </a:tabLst>
            </a:pPr>
            <a:r>
              <a:rPr sz="2700" b="1" spc="-10" dirty="0">
                <a:latin typeface="Arial"/>
                <a:cs typeface="Arial"/>
              </a:rPr>
              <a:t>Invoicing</a:t>
            </a:r>
            <a:r>
              <a:rPr sz="2700" b="1" spc="-9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And</a:t>
            </a:r>
            <a:r>
              <a:rPr sz="2700" b="1" spc="-90" dirty="0">
                <a:latin typeface="Arial"/>
                <a:cs typeface="Arial"/>
              </a:rPr>
              <a:t> </a:t>
            </a:r>
            <a:r>
              <a:rPr sz="2700" b="1" spc="-10" dirty="0">
                <a:latin typeface="Arial"/>
                <a:cs typeface="Arial"/>
              </a:rPr>
              <a:t>Payment</a:t>
            </a:r>
            <a:endParaRPr sz="2700" dirty="0">
              <a:latin typeface="Arial"/>
              <a:cs typeface="Arial"/>
            </a:endParaRPr>
          </a:p>
          <a:p>
            <a:pPr marL="12700" lvl="1">
              <a:lnSpc>
                <a:spcPct val="115000"/>
              </a:lnSpc>
              <a:spcBef>
                <a:spcPts val="900"/>
              </a:spcBef>
              <a:tabLst>
                <a:tab pos="328930" algn="l"/>
              </a:tabLst>
            </a:pPr>
            <a:r>
              <a:rPr lang="en-US" sz="1600" b="1" dirty="0">
                <a:latin typeface="Arial"/>
                <a:cs typeface="Arial"/>
              </a:rPr>
              <a:t>6.1 </a:t>
            </a:r>
            <a:r>
              <a:rPr sz="1600" b="1" dirty="0">
                <a:latin typeface="Arial"/>
                <a:cs typeface="Arial"/>
              </a:rPr>
              <a:t>Client</a:t>
            </a:r>
            <a:r>
              <a:rPr sz="1600" b="1" spc="7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Invoice.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The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Developer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invoice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for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all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amounts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due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under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Agreement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in</a:t>
            </a:r>
            <a:endParaRPr sz="1300" dirty="0">
              <a:latin typeface="Arial MT"/>
              <a:cs typeface="Arial MT"/>
            </a:endParaRPr>
          </a:p>
          <a:p>
            <a:pPr marL="12700" marR="10160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accordance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with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Agreement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7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as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otherwise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agreed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upon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75" dirty="0">
                <a:latin typeface="Arial MT"/>
                <a:cs typeface="Arial MT"/>
              </a:rPr>
              <a:t> </a:t>
            </a:r>
            <a:r>
              <a:rPr sz="1300" spc="45" dirty="0">
                <a:latin typeface="Arial MT"/>
                <a:cs typeface="Arial MT"/>
              </a:rPr>
              <a:t>writing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by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parties. </a:t>
            </a:r>
            <a:r>
              <a:rPr sz="1300" dirty="0">
                <a:latin typeface="Arial MT"/>
                <a:cs typeface="Arial MT"/>
              </a:rPr>
              <a:t>Developer's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invoices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set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forth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all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amounts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due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from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Developer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and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contain </a:t>
            </a:r>
            <a:r>
              <a:rPr sz="1300" dirty="0">
                <a:latin typeface="Arial MT"/>
                <a:cs typeface="Arial MT"/>
              </a:rPr>
              <a:t>sufficient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detail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allow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determine</a:t>
            </a:r>
            <a:r>
              <a:rPr sz="1300" spc="6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accuracy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amount(s)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billed.</a:t>
            </a:r>
            <a:endParaRPr sz="1300" dirty="0">
              <a:latin typeface="Arial MT"/>
              <a:cs typeface="Arial MT"/>
            </a:endParaRPr>
          </a:p>
          <a:p>
            <a:pPr marL="12700" lvl="1">
              <a:lnSpc>
                <a:spcPct val="115000"/>
              </a:lnSpc>
              <a:spcBef>
                <a:spcPts val="900"/>
              </a:spcBef>
              <a:tabLst>
                <a:tab pos="377190" algn="l"/>
              </a:tabLst>
            </a:pPr>
            <a:r>
              <a:rPr lang="en-US" sz="1600" b="1" dirty="0">
                <a:latin typeface="Arial"/>
                <a:cs typeface="Arial"/>
              </a:rPr>
              <a:t>6.2 </a:t>
            </a:r>
            <a:r>
              <a:rPr sz="1600" b="1" dirty="0">
                <a:latin typeface="Arial"/>
                <a:cs typeface="Arial"/>
              </a:rPr>
              <a:t>Payment</a:t>
            </a:r>
            <a:r>
              <a:rPr sz="1600" b="1" spc="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Method.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Payments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by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made,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Client's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discretion,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according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Client's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then-</a:t>
            </a:r>
            <a:r>
              <a:rPr sz="1300" spc="-10" dirty="0">
                <a:latin typeface="Arial MT"/>
                <a:cs typeface="Arial MT"/>
              </a:rPr>
              <a:t>current</a:t>
            </a:r>
            <a:endParaRPr sz="1300" dirty="0">
              <a:latin typeface="Arial MT"/>
              <a:cs typeface="Arial MT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payment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policies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as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agreed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upon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applicable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Schedule.</a:t>
            </a:r>
            <a:endParaRPr sz="1300" dirty="0">
              <a:latin typeface="Arial MT"/>
              <a:cs typeface="Arial MT"/>
            </a:endParaRPr>
          </a:p>
          <a:p>
            <a:pPr marL="12700" lvl="1">
              <a:lnSpc>
                <a:spcPct val="115000"/>
              </a:lnSpc>
              <a:spcBef>
                <a:spcPts val="900"/>
              </a:spcBef>
              <a:tabLst>
                <a:tab pos="381000" algn="l"/>
              </a:tabLst>
            </a:pPr>
            <a:r>
              <a:rPr lang="en-US" sz="1600" b="1" dirty="0">
                <a:latin typeface="Arial"/>
                <a:cs typeface="Arial"/>
              </a:rPr>
              <a:t>6.3 </a:t>
            </a:r>
            <a:r>
              <a:rPr sz="1600" b="1" dirty="0">
                <a:latin typeface="Arial"/>
                <a:cs typeface="Arial"/>
              </a:rPr>
              <a:t>Concerns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Regarding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Invoiced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Amount.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If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has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any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concerns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regarding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invoiced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amount,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they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may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raise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the</a:t>
            </a:r>
            <a:endParaRPr sz="1300" dirty="0">
              <a:latin typeface="Arial MT"/>
              <a:cs typeface="Arial MT"/>
            </a:endParaRPr>
          </a:p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matter—either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verbally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writing—within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spc="60" dirty="0">
                <a:latin typeface="Arial MT"/>
                <a:cs typeface="Arial MT"/>
              </a:rPr>
              <a:t>[5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business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days]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calendar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days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8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receiving</a:t>
            </a:r>
            <a:r>
              <a:rPr sz="1300" spc="8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the </a:t>
            </a:r>
            <a:r>
              <a:rPr sz="1300" dirty="0">
                <a:latin typeface="Arial MT"/>
                <a:cs typeface="Arial MT"/>
              </a:rPr>
              <a:t>invoice.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may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include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concerns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related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accuracy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charges,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quality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25" dirty="0">
                <a:latin typeface="Arial MT"/>
                <a:cs typeface="Arial MT"/>
              </a:rPr>
              <a:t>or</a:t>
            </a:r>
            <a:endParaRPr sz="1300" dirty="0">
              <a:latin typeface="Arial MT"/>
              <a:cs typeface="Arial MT"/>
            </a:endParaRPr>
          </a:p>
          <a:p>
            <a:pPr marL="12700" marR="434340">
              <a:lnSpc>
                <a:spcPct val="115000"/>
              </a:lnSpc>
              <a:spcBef>
                <a:spcPts val="400"/>
              </a:spcBef>
            </a:pPr>
            <a:r>
              <a:rPr sz="1300" spc="10" dirty="0">
                <a:latin typeface="Arial MT"/>
                <a:cs typeface="Arial MT"/>
              </a:rPr>
              <a:t>completeness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of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services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delivered,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or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any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other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issue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linked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to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the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specific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charges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in </a:t>
            </a:r>
            <a:r>
              <a:rPr sz="1300" dirty="0">
                <a:latin typeface="Arial MT"/>
                <a:cs typeface="Arial MT"/>
              </a:rPr>
              <a:t>question.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In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such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cases,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Client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may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request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review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partial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refund.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50" dirty="0">
                <a:latin typeface="Arial MT"/>
                <a:cs typeface="Arial MT"/>
              </a:rPr>
              <a:t>A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partial </a:t>
            </a:r>
            <a:r>
              <a:rPr sz="1300" dirty="0">
                <a:latin typeface="Arial MT"/>
                <a:cs typeface="Arial MT"/>
              </a:rPr>
              <a:t>payment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invoice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will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understood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as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request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review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remaining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amount,</a:t>
            </a:r>
            <a:endParaRPr sz="1300" dirty="0">
              <a:latin typeface="Arial MT"/>
              <a:cs typeface="Arial MT"/>
            </a:endParaRPr>
          </a:p>
          <a:p>
            <a:pPr marL="12700" marR="311150">
              <a:lnSpc>
                <a:spcPct val="115000"/>
              </a:lnSpc>
              <a:spcBef>
                <a:spcPts val="400"/>
              </a:spcBef>
            </a:pPr>
            <a:r>
              <a:rPr sz="1300" dirty="0">
                <a:latin typeface="Arial MT"/>
                <a:cs typeface="Arial MT"/>
              </a:rPr>
              <a:t>unless</a:t>
            </a:r>
            <a:r>
              <a:rPr sz="1300" spc="9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partial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payment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aligns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with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agreed-upon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terms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applicable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Schedule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spc="25" dirty="0">
                <a:latin typeface="Arial MT"/>
                <a:cs typeface="Arial MT"/>
              </a:rPr>
              <a:t>for </a:t>
            </a:r>
            <a:r>
              <a:rPr sz="1300" spc="-10" dirty="0">
                <a:latin typeface="Arial MT"/>
                <a:cs typeface="Arial MT"/>
              </a:rPr>
              <a:t>Work.</a:t>
            </a:r>
            <a:endParaRPr sz="13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1203" y="1288402"/>
            <a:ext cx="3010535" cy="29845"/>
            <a:chOff x="431203" y="1288402"/>
            <a:chExt cx="3010535" cy="29845"/>
          </a:xfrm>
        </p:grpSpPr>
        <p:sp>
          <p:nvSpPr>
            <p:cNvPr id="8" name="object 8"/>
            <p:cNvSpPr/>
            <p:nvPr/>
          </p:nvSpPr>
          <p:spPr>
            <a:xfrm>
              <a:off x="431203" y="1288402"/>
              <a:ext cx="1085215" cy="29845"/>
            </a:xfrm>
            <a:custGeom>
              <a:avLst/>
              <a:gdLst/>
              <a:ahLst/>
              <a:cxnLst/>
              <a:rect l="l" t="t" r="r" b="b"/>
              <a:pathLst>
                <a:path w="1085215" h="29844">
                  <a:moveTo>
                    <a:pt x="1085189" y="0"/>
                  </a:moveTo>
                  <a:lnTo>
                    <a:pt x="0" y="0"/>
                  </a:lnTo>
                  <a:lnTo>
                    <a:pt x="0" y="29819"/>
                  </a:lnTo>
                  <a:lnTo>
                    <a:pt x="1085189" y="29819"/>
                  </a:lnTo>
                  <a:lnTo>
                    <a:pt x="1085189" y="0"/>
                  </a:lnTo>
                  <a:close/>
                </a:path>
              </a:pathLst>
            </a:custGeom>
            <a:solidFill>
              <a:srgbClr val="17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1015" y="1288402"/>
              <a:ext cx="1970405" cy="29845"/>
            </a:xfrm>
            <a:custGeom>
              <a:avLst/>
              <a:gdLst/>
              <a:ahLst/>
              <a:cxnLst/>
              <a:rect l="l" t="t" r="r" b="b"/>
              <a:pathLst>
                <a:path w="1970404" h="29844">
                  <a:moveTo>
                    <a:pt x="1970138" y="0"/>
                  </a:moveTo>
                  <a:lnTo>
                    <a:pt x="0" y="0"/>
                  </a:lnTo>
                  <a:lnTo>
                    <a:pt x="0" y="29819"/>
                  </a:lnTo>
                  <a:lnTo>
                    <a:pt x="1970138" y="29819"/>
                  </a:lnTo>
                  <a:lnTo>
                    <a:pt x="19701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46F56EB-F147-7AB1-C19B-007E9A0049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1924" y="7471315"/>
            <a:ext cx="4135927" cy="4362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491" y="1262773"/>
            <a:ext cx="5896610" cy="974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900"/>
              </a:spcBef>
            </a:pPr>
            <a:r>
              <a:rPr sz="1600" b="1" spc="-10" dirty="0">
                <a:latin typeface="Arial"/>
                <a:cs typeface="Arial"/>
              </a:rPr>
              <a:t>SIGNATURES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sz="1300" spc="-30" dirty="0">
                <a:latin typeface="Arial MT"/>
                <a:cs typeface="Arial MT"/>
              </a:rPr>
              <a:t>IN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WITNESS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WHEREOF,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intending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legally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bound,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parties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execute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this </a:t>
            </a:r>
            <a:r>
              <a:rPr sz="1300" spc="-10" dirty="0">
                <a:latin typeface="Arial MT"/>
                <a:cs typeface="Arial MT"/>
              </a:rPr>
              <a:t>Agreement: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873" y="5031826"/>
            <a:ext cx="192722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sz="1400" dirty="0">
                <a:latin typeface="Arial MT"/>
                <a:cs typeface="Arial MT"/>
              </a:rPr>
              <a:t>Name: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Brian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McGregor </a:t>
            </a:r>
            <a:r>
              <a:rPr sz="1400" dirty="0">
                <a:latin typeface="Arial MT"/>
                <a:cs typeface="Arial MT"/>
              </a:rPr>
              <a:t>Date: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12/16/2025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873" y="2893248"/>
            <a:ext cx="1648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400" spc="-20" dirty="0">
                <a:latin typeface="Arial MT"/>
                <a:cs typeface="Arial MT"/>
              </a:rPr>
              <a:t>By: </a:t>
            </a:r>
            <a:r>
              <a:rPr sz="1400" b="1" dirty="0">
                <a:latin typeface="Arial"/>
                <a:cs typeface="Arial"/>
              </a:rPr>
              <a:t>Progressive</a:t>
            </a:r>
            <a:r>
              <a:rPr sz="1400" b="1" spc="2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UX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6604" y="2893248"/>
            <a:ext cx="2200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400"/>
              </a:spcBef>
            </a:pPr>
            <a:r>
              <a:rPr sz="1400" spc="-45" dirty="0">
                <a:latin typeface="Arial MT"/>
                <a:cs typeface="Arial MT"/>
              </a:rPr>
              <a:t>To: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AlanPro </a:t>
            </a:r>
            <a:r>
              <a:rPr sz="1400" b="1" spc="-10" dirty="0">
                <a:latin typeface="Arial"/>
                <a:cs typeface="Arial"/>
              </a:rPr>
              <a:t>Technologies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6149" y="3662768"/>
            <a:ext cx="5497195" cy="1205865"/>
            <a:chOff x="566149" y="3662768"/>
            <a:chExt cx="5497195" cy="1205865"/>
          </a:xfrm>
        </p:grpSpPr>
        <p:sp>
          <p:nvSpPr>
            <p:cNvPr id="7" name="object 7"/>
            <p:cNvSpPr/>
            <p:nvPr/>
          </p:nvSpPr>
          <p:spPr>
            <a:xfrm>
              <a:off x="566149" y="4864053"/>
              <a:ext cx="2035175" cy="0"/>
            </a:xfrm>
            <a:custGeom>
              <a:avLst/>
              <a:gdLst/>
              <a:ahLst/>
              <a:cxnLst/>
              <a:rect l="l" t="t" r="r" b="b"/>
              <a:pathLst>
                <a:path w="2035175">
                  <a:moveTo>
                    <a:pt x="0" y="0"/>
                  </a:moveTo>
                  <a:lnTo>
                    <a:pt x="2035136" y="0"/>
                  </a:lnTo>
                </a:path>
              </a:pathLst>
            </a:custGeom>
            <a:ln w="8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27834" y="4864053"/>
              <a:ext cx="2035175" cy="0"/>
            </a:xfrm>
            <a:custGeom>
              <a:avLst/>
              <a:gdLst/>
              <a:ahLst/>
              <a:cxnLst/>
              <a:rect l="l" t="t" r="r" b="b"/>
              <a:pathLst>
                <a:path w="2035175">
                  <a:moveTo>
                    <a:pt x="0" y="0"/>
                  </a:moveTo>
                  <a:lnTo>
                    <a:pt x="2035136" y="0"/>
                  </a:lnTo>
                </a:path>
              </a:pathLst>
            </a:custGeom>
            <a:ln w="8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349" y="3662768"/>
              <a:ext cx="1910066" cy="11642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026680" y="5031826"/>
            <a:ext cx="205803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400"/>
              </a:spcBef>
            </a:pPr>
            <a:r>
              <a:rPr sz="1400" dirty="0">
                <a:latin typeface="Arial MT"/>
                <a:cs typeface="Arial MT"/>
              </a:rPr>
              <a:t>Name: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Kenneth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Simpson </a:t>
            </a:r>
            <a:r>
              <a:rPr sz="1400" dirty="0">
                <a:latin typeface="Arial MT"/>
                <a:cs typeface="Arial MT"/>
              </a:rPr>
              <a:t>Date: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12/16/2025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7EA9E6-C42C-C00C-4CF3-E2483D7AFD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8326" y="6629676"/>
            <a:ext cx="4750504" cy="5010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7471" y="4858511"/>
            <a:ext cx="1140460" cy="372110"/>
          </a:xfrm>
          <a:custGeom>
            <a:avLst/>
            <a:gdLst/>
            <a:ahLst/>
            <a:cxnLst/>
            <a:rect l="l" t="t" r="r" b="b"/>
            <a:pathLst>
              <a:path w="1140460" h="372110">
                <a:moveTo>
                  <a:pt x="1139952" y="371856"/>
                </a:moveTo>
                <a:lnTo>
                  <a:pt x="0" y="371856"/>
                </a:lnTo>
                <a:lnTo>
                  <a:pt x="0" y="0"/>
                </a:lnTo>
                <a:lnTo>
                  <a:pt x="1139952" y="0"/>
                </a:lnTo>
                <a:lnTo>
                  <a:pt x="1139952" y="3718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3282" y="4725670"/>
            <a:ext cx="114808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5000"/>
              </a:lnSpc>
              <a:spcBef>
                <a:spcPts val="1600"/>
              </a:spcBef>
            </a:pPr>
            <a:r>
              <a:rPr sz="3850" spc="135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385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DCE79-E2B5-BBA1-1E0F-92056911DE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1"/>
            <a:ext cx="7543800" cy="10689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535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MT</vt:lpstr>
      <vt:lpstr>Times New Roman</vt:lpstr>
      <vt:lpstr>Office Theme</vt:lpstr>
      <vt:lpstr>PowerPoint Presentation</vt:lpstr>
      <vt:lpstr>Mobile Application Development Agreement</vt:lpstr>
      <vt:lpstr>PowerPoint Presentation</vt:lpstr>
      <vt:lpstr>5. Payment Terms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- Progressive UX Agreement</dc:title>
  <dc:creator>Administrator</dc:creator>
  <cp:lastModifiedBy>Administrator</cp:lastModifiedBy>
  <cp:revision>3</cp:revision>
  <dcterms:created xsi:type="dcterms:W3CDTF">2025-12-18T00:11:11Z</dcterms:created>
  <dcterms:modified xsi:type="dcterms:W3CDTF">2026-03-04T20:31:55Z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Creator">
    <vt:lpwstr>Adobe Illustrator 30.0 (Windows)</vt:lpwstr>
  </property>
  <property fmtid="{D5CDD505-2E9C-101B-9397-08002B2CF9AE}" pid="4" name="LastSaved">
    <vt:filetime>2025-12-18T00:00:00Z</vt:filetime>
  </property>
  <property fmtid="{D5CDD505-2E9C-101B-9397-08002B2CF9AE}" pid="5" name="Producer">
    <vt:lpwstr>Adobe PDF library 17.00</vt:lpwstr>
  </property>
</Properties>
</file>